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256" r:id="rId2"/>
    <p:sldId id="259" r:id="rId3"/>
    <p:sldId id="327" r:id="rId4"/>
    <p:sldId id="333" r:id="rId5"/>
    <p:sldId id="350" r:id="rId6"/>
    <p:sldId id="351" r:id="rId7"/>
    <p:sldId id="328" r:id="rId8"/>
    <p:sldId id="329" r:id="rId9"/>
    <p:sldId id="335" r:id="rId10"/>
    <p:sldId id="330" r:id="rId11"/>
    <p:sldId id="345" r:id="rId12"/>
    <p:sldId id="346" r:id="rId13"/>
    <p:sldId id="352" r:id="rId14"/>
    <p:sldId id="349" r:id="rId15"/>
    <p:sldId id="326"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varScale="1">
        <p:scale>
          <a:sx n="97" d="100"/>
          <a:sy n="97" d="100"/>
        </p:scale>
        <p:origin x="33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4/1/2026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4/1/2026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5</a:t>
            </a:fld>
            <a:endParaRPr lang="en-US" altLang="en-US"/>
          </a:p>
        </p:txBody>
      </p:sp>
    </p:spTree>
    <p:extLst>
      <p:ext uri="{BB962C8B-B14F-4D97-AF65-F5344CB8AC3E}">
        <p14:creationId xmlns:p14="http://schemas.microsoft.com/office/powerpoint/2010/main" val="222967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6</a:t>
            </a:fld>
            <a:endParaRPr lang="en-US" altLang="en-US"/>
          </a:p>
        </p:txBody>
      </p:sp>
    </p:spTree>
    <p:extLst>
      <p:ext uri="{BB962C8B-B14F-4D97-AF65-F5344CB8AC3E}">
        <p14:creationId xmlns:p14="http://schemas.microsoft.com/office/powerpoint/2010/main" val="610534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4/1/2026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4/1/2026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4/1/2026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4/1/2026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4/1/2026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4/1/2026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4/1/2026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4/1/2026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4/1/2026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4/1/2026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4/1/2026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4/1/2026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AND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cs typeface="Calibri"/>
              </a:rPr>
              <a:t>Ms. Ashima </a:t>
            </a:r>
            <a:r>
              <a:rPr lang="en-US" sz="3000" b="1" dirty="0" err="1">
                <a:solidFill>
                  <a:srgbClr val="002060"/>
                </a:solidFill>
                <a:cs typeface="Calibri"/>
              </a:rPr>
              <a:t>jain</a:t>
            </a:r>
            <a:endParaRPr lang="en-US" sz="3000" b="1" dirty="0">
              <a:solidFill>
                <a:srgbClr val="002060"/>
              </a:solidFill>
              <a:cs typeface="Calibri"/>
            </a:endParaRPr>
          </a:p>
          <a:p>
            <a:pPr algn="ctr" fontAlgn="auto">
              <a:spcBef>
                <a:spcPct val="20000"/>
              </a:spcBef>
              <a:spcAft>
                <a:spcPts val="0"/>
              </a:spcAft>
              <a:defRPr/>
            </a:pPr>
            <a:r>
              <a:rPr lang="en-US" sz="2200" b="1" dirty="0">
                <a:solidFill>
                  <a:srgbClr val="002060"/>
                </a:solidFill>
              </a:rPr>
              <a:t>Assistant Professor </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23MPCS-G11</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70000" lnSpcReduction="20000"/>
          </a:bodyPr>
          <a:lstStyle/>
          <a:p>
            <a:pPr algn="ctr" fontAlgn="auto">
              <a:spcAft>
                <a:spcPts val="0"/>
              </a:spcAft>
              <a:defRPr/>
            </a:pPr>
            <a:r>
              <a:rPr lang="en-US" sz="2800" b="1" dirty="0">
                <a:solidFill>
                  <a:schemeClr val="tx1"/>
                </a:solidFill>
                <a:latin typeface="+mj-lt"/>
                <a:ea typeface="+mj-ea"/>
                <a:cs typeface="+mj-cs"/>
              </a:rPr>
              <a:t>Title: Deep learning-Based structural Damage Detection in wind turbine Blades using YOLOv8 Segmentation</a:t>
            </a: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2072211305"/>
              </p:ext>
            </p:extLst>
          </p:nvPr>
        </p:nvGraphicFramePr>
        <p:xfrm>
          <a:off x="1219200" y="3124200"/>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200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00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err="1"/>
                        <a:t>Dhivyah</a:t>
                      </a:r>
                      <a:r>
                        <a:rPr lang="en-US" sz="2000" b="1" dirty="0"/>
                        <a:t>  </a:t>
                      </a:r>
                      <a:r>
                        <a:rPr lang="en-US" sz="2000" b="1" dirty="0" err="1"/>
                        <a:t>Penamala</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M. Sri Thanvi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23881A05DZ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Priyanshu Raj Singh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Introduction</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p>
          <a:p>
            <a:pPr>
              <a:lnSpc>
                <a:spcPct val="110000"/>
              </a:lnSpc>
              <a:spcBef>
                <a:spcPts val="1200"/>
              </a:spcBef>
              <a:spcAft>
                <a:spcPts val="0"/>
              </a:spcAft>
              <a:defRPr/>
            </a:pPr>
            <a:r>
              <a:rPr lang="en-US" sz="1800" b="1" dirty="0">
                <a:ea typeface="+mn-lt"/>
                <a:cs typeface="+mn-lt"/>
              </a:rPr>
              <a:t>Research Gaps </a:t>
            </a:r>
          </a:p>
          <a:p>
            <a:pPr>
              <a:lnSpc>
                <a:spcPct val="110000"/>
              </a:lnSpc>
              <a:spcBef>
                <a:spcPts val="1200"/>
              </a:spcBef>
              <a:spcAft>
                <a:spcPts val="0"/>
              </a:spcAft>
              <a:defRPr/>
            </a:pPr>
            <a:r>
              <a:rPr lang="en-US" sz="1800" b="1" dirty="0">
                <a:ea typeface="+mn-lt"/>
                <a:cs typeface="+mn-lt"/>
              </a:rPr>
              <a:t>Problem Statement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Architectural Diagram</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Research Paper (Acceptance Proofs)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 MINI PROJECT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Introduction</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algn="just" fontAlgn="auto">
              <a:lnSpc>
                <a:spcPct val="150000"/>
              </a:lnSpc>
              <a:spcAft>
                <a:spcPts val="0"/>
              </a:spcAft>
              <a:defRPr/>
            </a:pPr>
            <a:r>
              <a:rPr lang="en-US" sz="2500" dirty="0"/>
              <a:t>Wind energy is an important renewable energy source, and wind turbine blades play a key role in energy generation. However, these blades can get damaged due to environmental conditions. This project uses deep learning and YOLOv8 to detect damages in blade images, helping to improve maintenance and efficiency.</a:t>
            </a:r>
          </a:p>
          <a:p>
            <a:pPr algn="just" fontAlgn="auto">
              <a:lnSpc>
                <a:spcPct val="150000"/>
              </a:lnSpc>
              <a:spcAft>
                <a:spcPts val="0"/>
              </a:spcAft>
              <a:defRPr/>
            </a:pPr>
            <a:endParaRPr lang="en-US" sz="2400" dirty="0">
              <a:cs typeface="Calibri"/>
            </a:endParaRP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628900" y="6264275"/>
            <a:ext cx="3962400" cy="365125"/>
          </a:xfrm>
        </p:spPr>
        <p:txBody>
          <a:bodyPr/>
          <a:lstStyle/>
          <a:p>
            <a:pPr>
              <a:defRPr/>
            </a:pPr>
            <a:r>
              <a:rPr lang="en-US" dirty="0"/>
              <a:t>DEPARTMENT OF CSE : MINI PROJECT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graphicFrame>
        <p:nvGraphicFramePr>
          <p:cNvPr id="8" name="Content Placeholder 7">
            <a:extLst>
              <a:ext uri="{FF2B5EF4-FFF2-40B4-BE49-F238E27FC236}">
                <a16:creationId xmlns:a16="http://schemas.microsoft.com/office/drawing/2014/main" id="{BF019FCC-92D3-88FA-E3E0-DCCDD956FDEE}"/>
              </a:ext>
            </a:extLst>
          </p:cNvPr>
          <p:cNvGraphicFramePr>
            <a:graphicFrameLocks noGrp="1"/>
          </p:cNvGraphicFramePr>
          <p:nvPr>
            <p:ph idx="1"/>
            <p:extLst>
              <p:ext uri="{D42A27DB-BD31-4B8C-83A1-F6EECF244321}">
                <p14:modId xmlns:p14="http://schemas.microsoft.com/office/powerpoint/2010/main" val="891465362"/>
              </p:ext>
            </p:extLst>
          </p:nvPr>
        </p:nvGraphicFramePr>
        <p:xfrm>
          <a:off x="457200" y="1600200"/>
          <a:ext cx="8229600" cy="25958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3216531289"/>
                    </a:ext>
                  </a:extLst>
                </a:gridCol>
                <a:gridCol w="4114800">
                  <a:extLst>
                    <a:ext uri="{9D8B030D-6E8A-4147-A177-3AD203B41FA5}">
                      <a16:colId xmlns:a16="http://schemas.microsoft.com/office/drawing/2014/main" val="395670113"/>
                    </a:ext>
                  </a:extLst>
                </a:gridCol>
              </a:tblGrid>
              <a:tr h="370840">
                <a:tc gridSpan="2">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2937521705"/>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3997440903"/>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761060148"/>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481283371"/>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2057913562"/>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366234781"/>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81095464"/>
                  </a:ext>
                </a:extLst>
              </a:tr>
            </a:tbl>
          </a:graphicData>
        </a:graphic>
      </p:graphicFrame>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endParaRPr lang="en-US" sz="2800" dirty="0"/>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graphicFrame>
        <p:nvGraphicFramePr>
          <p:cNvPr id="10" name="Table 9">
            <a:extLst>
              <a:ext uri="{FF2B5EF4-FFF2-40B4-BE49-F238E27FC236}">
                <a16:creationId xmlns:a16="http://schemas.microsoft.com/office/drawing/2014/main" id="{6C1A533E-58DF-EDFC-030E-1D55EC614E73}"/>
              </a:ext>
            </a:extLst>
          </p:cNvPr>
          <p:cNvGraphicFramePr>
            <a:graphicFrameLocks noGrp="1"/>
          </p:cNvGraphicFramePr>
          <p:nvPr>
            <p:extLst>
              <p:ext uri="{D42A27DB-BD31-4B8C-83A1-F6EECF244321}">
                <p14:modId xmlns:p14="http://schemas.microsoft.com/office/powerpoint/2010/main" val="3097693512"/>
              </p:ext>
            </p:extLst>
          </p:nvPr>
        </p:nvGraphicFramePr>
        <p:xfrm>
          <a:off x="457200" y="1752600"/>
          <a:ext cx="8305800" cy="3632199"/>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2062242329"/>
                    </a:ext>
                  </a:extLst>
                </a:gridCol>
                <a:gridCol w="4114800">
                  <a:extLst>
                    <a:ext uri="{9D8B030D-6E8A-4147-A177-3AD203B41FA5}">
                      <a16:colId xmlns:a16="http://schemas.microsoft.com/office/drawing/2014/main" val="871087373"/>
                    </a:ext>
                  </a:extLst>
                </a:gridCol>
              </a:tblGrid>
              <a:tr h="553860">
                <a:tc>
                  <a:txBody>
                    <a:bodyPr/>
                    <a:lstStyle/>
                    <a:p>
                      <a:r>
                        <a:rPr lang="en-IN" sz="2400" dirty="0"/>
                        <a:t>              Existing System</a:t>
                      </a:r>
                    </a:p>
                  </a:txBody>
                  <a:tcPr/>
                </a:tc>
                <a:tc>
                  <a:txBody>
                    <a:bodyPr/>
                    <a:lstStyle/>
                    <a:p>
                      <a:r>
                        <a:rPr lang="en-IN" sz="2400" dirty="0"/>
                        <a:t>            Proposed System</a:t>
                      </a:r>
                    </a:p>
                  </a:txBody>
                  <a:tcPr/>
                </a:tc>
                <a:extLst>
                  <a:ext uri="{0D108BD9-81ED-4DB2-BD59-A6C34878D82A}">
                    <a16:rowId xmlns:a16="http://schemas.microsoft.com/office/drawing/2014/main" val="2039160273"/>
                  </a:ext>
                </a:extLst>
              </a:tr>
              <a:tr h="577941">
                <a:tc>
                  <a:txBody>
                    <a:bodyPr/>
                    <a:lstStyle/>
                    <a:p>
                      <a:r>
                        <a:rPr lang="en-US" dirty="0"/>
                        <a:t>Manual inspection or human analysis</a:t>
                      </a:r>
                      <a:endParaRPr lang="en-IN" dirty="0"/>
                    </a:p>
                  </a:txBody>
                  <a:tcPr/>
                </a:tc>
                <a:tc>
                  <a:txBody>
                    <a:bodyPr/>
                    <a:lstStyle/>
                    <a:p>
                      <a:r>
                        <a:rPr lang="en-US" dirty="0"/>
                        <a:t>Automated using YOLO deep learning</a:t>
                      </a:r>
                      <a:endParaRPr lang="en-IN" dirty="0"/>
                    </a:p>
                  </a:txBody>
                  <a:tcPr/>
                </a:tc>
                <a:extLst>
                  <a:ext uri="{0D108BD9-81ED-4DB2-BD59-A6C34878D82A}">
                    <a16:rowId xmlns:a16="http://schemas.microsoft.com/office/drawing/2014/main" val="394878186"/>
                  </a:ext>
                </a:extLst>
              </a:tr>
              <a:tr h="577941">
                <a:tc>
                  <a:txBody>
                    <a:bodyPr/>
                    <a:lstStyle/>
                    <a:p>
                      <a:r>
                        <a:rPr lang="en-IN" dirty="0"/>
                        <a:t>Time-consuming and costly</a:t>
                      </a:r>
                    </a:p>
                  </a:txBody>
                  <a:tcPr/>
                </a:tc>
                <a:tc>
                  <a:txBody>
                    <a:bodyPr/>
                    <a:lstStyle/>
                    <a:p>
                      <a:r>
                        <a:rPr lang="en-IN" dirty="0"/>
                        <a:t>Fast and real-time detection</a:t>
                      </a:r>
                    </a:p>
                  </a:txBody>
                  <a:tcPr/>
                </a:tc>
                <a:extLst>
                  <a:ext uri="{0D108BD9-81ED-4DB2-BD59-A6C34878D82A}">
                    <a16:rowId xmlns:a16="http://schemas.microsoft.com/office/drawing/2014/main" val="3870710915"/>
                  </a:ext>
                </a:extLst>
              </a:tr>
              <a:tr h="577941">
                <a:tc>
                  <a:txBody>
                    <a:bodyPr/>
                    <a:lstStyle/>
                    <a:p>
                      <a:r>
                        <a:rPr lang="en-IN" dirty="0"/>
                        <a:t>Risky and less safe </a:t>
                      </a:r>
                    </a:p>
                  </a:txBody>
                  <a:tcPr/>
                </a:tc>
                <a:tc>
                  <a:txBody>
                    <a:bodyPr/>
                    <a:lstStyle/>
                    <a:p>
                      <a:r>
                        <a:rPr lang="en-IN" dirty="0"/>
                        <a:t>Safe (no manual risk) </a:t>
                      </a:r>
                    </a:p>
                  </a:txBody>
                  <a:tcPr/>
                </a:tc>
                <a:extLst>
                  <a:ext uri="{0D108BD9-81ED-4DB2-BD59-A6C34878D82A}">
                    <a16:rowId xmlns:a16="http://schemas.microsoft.com/office/drawing/2014/main" val="133073695"/>
                  </a:ext>
                </a:extLst>
              </a:tr>
              <a:tr h="577941">
                <a:tc>
                  <a:txBody>
                    <a:bodyPr/>
                    <a:lstStyle/>
                    <a:p>
                      <a:r>
                        <a:rPr lang="en-IN" dirty="0"/>
                        <a:t>Less accuracy (human errors)</a:t>
                      </a:r>
                    </a:p>
                  </a:txBody>
                  <a:tcPr/>
                </a:tc>
                <a:tc>
                  <a:txBody>
                    <a:bodyPr/>
                    <a:lstStyle/>
                    <a:p>
                      <a:r>
                        <a:rPr lang="en-IN" dirty="0"/>
                        <a:t>High accuracy</a:t>
                      </a:r>
                    </a:p>
                  </a:txBody>
                  <a:tcPr/>
                </a:tc>
                <a:extLst>
                  <a:ext uri="{0D108BD9-81ED-4DB2-BD59-A6C34878D82A}">
                    <a16:rowId xmlns:a16="http://schemas.microsoft.com/office/drawing/2014/main" val="2422854388"/>
                  </a:ext>
                </a:extLst>
              </a:tr>
              <a:tr h="766575">
                <a:tc>
                  <a:txBody>
                    <a:bodyPr/>
                    <a:lstStyle/>
                    <a:p>
                      <a:r>
                        <a:rPr lang="en-US" dirty="0"/>
                        <a:t>Difficult to detect small defects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Detects small and complex defects easily </a:t>
                      </a:r>
                    </a:p>
                    <a:p>
                      <a:endParaRPr lang="en-IN" dirty="0"/>
                    </a:p>
                  </a:txBody>
                  <a:tcPr/>
                </a:tc>
                <a:extLst>
                  <a:ext uri="{0D108BD9-81ED-4DB2-BD59-A6C34878D82A}">
                    <a16:rowId xmlns:a16="http://schemas.microsoft.com/office/drawing/2014/main" val="2035532143"/>
                  </a:ext>
                </a:extLst>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Research Gaps</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5</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400" dirty="0"/>
          </a:p>
          <a:p>
            <a:pPr fontAlgn="auto">
              <a:spcAft>
                <a:spcPts val="0"/>
              </a:spcAft>
              <a:defRPr/>
            </a:pPr>
            <a:r>
              <a:rPr lang="en-US" sz="2500" dirty="0"/>
              <a:t>Existing methods rely more on manual inspection, which is time-consuming.</a:t>
            </a:r>
          </a:p>
          <a:p>
            <a:pPr fontAlgn="auto">
              <a:spcAft>
                <a:spcPts val="0"/>
              </a:spcAft>
              <a:defRPr/>
            </a:pPr>
            <a:r>
              <a:rPr lang="en-US" sz="2500" dirty="0"/>
              <a:t>Many models have low accuracy in detecting small or complex damages.</a:t>
            </a:r>
          </a:p>
          <a:p>
            <a:pPr fontAlgn="auto">
              <a:spcAft>
                <a:spcPts val="0"/>
              </a:spcAft>
              <a:defRPr/>
            </a:pPr>
            <a:r>
              <a:rPr lang="en-US" sz="2500" dirty="0"/>
              <a:t>Limited use of advanced deep learning models like YOLOv8.</a:t>
            </a:r>
          </a:p>
          <a:p>
            <a:pPr fontAlgn="auto">
              <a:spcAft>
                <a:spcPts val="0"/>
              </a:spcAft>
              <a:defRPr/>
            </a:pPr>
            <a:r>
              <a:rPr lang="en-US" sz="2500" dirty="0"/>
              <a:t>Lack of real-time and automated detection systems.</a:t>
            </a:r>
          </a:p>
          <a:p>
            <a:pPr fontAlgn="auto">
              <a:spcAft>
                <a:spcPts val="0"/>
              </a:spcAft>
              <a:defRPr/>
            </a:pPr>
            <a:r>
              <a:rPr lang="en-US" sz="2500" dirty="0"/>
              <a:t>Insufficient datasets for different types of blade damages.</a:t>
            </a:r>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extLst>
      <p:ext uri="{BB962C8B-B14F-4D97-AF65-F5344CB8AC3E}">
        <p14:creationId xmlns:p14="http://schemas.microsoft.com/office/powerpoint/2010/main" val="27865790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Problem Statement</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6</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buFont typeface="Arial" panose="020B0604020202020204" pitchFamily="34" charset="0"/>
              <a:buNone/>
              <a:defRPr/>
            </a:pPr>
            <a:endParaRPr lang="en-US" sz="2800" dirty="0">
              <a:cs typeface="Calibri"/>
            </a:endParaRPr>
          </a:p>
          <a:p>
            <a:pPr algn="just" fontAlgn="auto">
              <a:lnSpc>
                <a:spcPct val="150000"/>
              </a:lnSpc>
              <a:spcAft>
                <a:spcPts val="0"/>
              </a:spcAft>
              <a:buNone/>
              <a:defRPr/>
            </a:pPr>
            <a:r>
              <a:rPr lang="en-US" sz="2500" dirty="0">
                <a:cs typeface="Calibri"/>
              </a:rPr>
              <a:t>     </a:t>
            </a:r>
            <a:r>
              <a:rPr lang="en-US" sz="2500" dirty="0"/>
              <a:t>Wind turbine blades are exposed to harsh environmental conditions, which can cause damages like cracks, erosion, and surface defects. Traditional inspection methods are manual, time-consuming, and may lead to human errors. There is a need for an automated system that can accurately detect blade damages using images</a:t>
            </a:r>
            <a:r>
              <a:rPr lang="en-US" sz="2800" dirty="0"/>
              <a:t>.</a:t>
            </a:r>
            <a:endParaRPr lang="en-US" sz="25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5715512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spcAft>
                <a:spcPts val="0"/>
              </a:spcAft>
              <a:defRPr/>
            </a:pPr>
            <a:endParaRPr lang="en-US" sz="2500" dirty="0"/>
          </a:p>
          <a:p>
            <a:pPr fontAlgn="auto">
              <a:spcAft>
                <a:spcPts val="0"/>
              </a:spcAft>
              <a:defRPr/>
            </a:pPr>
            <a:r>
              <a:rPr lang="en-US" sz="2500" dirty="0"/>
              <a:t>To detect structural damages in wind turbine blades using deep learning.</a:t>
            </a:r>
          </a:p>
          <a:p>
            <a:pPr fontAlgn="auto">
              <a:spcAft>
                <a:spcPts val="0"/>
              </a:spcAft>
              <a:defRPr/>
            </a:pPr>
            <a:r>
              <a:rPr lang="en-US" sz="2500" dirty="0"/>
              <a:t>To develop a YOLOv8-based model for accurate damage identification.</a:t>
            </a:r>
          </a:p>
          <a:p>
            <a:pPr fontAlgn="auto">
              <a:spcAft>
                <a:spcPts val="0"/>
              </a:spcAft>
              <a:defRPr/>
            </a:pPr>
            <a:r>
              <a:rPr lang="en-US" sz="2500" dirty="0"/>
              <a:t>To reduce manual inspection and improve efficiency.</a:t>
            </a:r>
          </a:p>
          <a:p>
            <a:pPr fontAlgn="auto">
              <a:spcAft>
                <a:spcPts val="0"/>
              </a:spcAft>
              <a:defRPr/>
            </a:pPr>
            <a:r>
              <a:rPr lang="en-IN" sz="2500" dirty="0"/>
              <a:t>To </a:t>
            </a:r>
            <a:r>
              <a:rPr lang="en-IN" sz="2500" dirty="0" err="1"/>
              <a:t>analyze</a:t>
            </a:r>
            <a:r>
              <a:rPr lang="en-IN" sz="2500" dirty="0"/>
              <a:t> blade conditions using image processing techniques.</a:t>
            </a:r>
          </a:p>
          <a:p>
            <a:pPr fontAlgn="auto">
              <a:spcAft>
                <a:spcPts val="0"/>
              </a:spcAft>
              <a:defRPr/>
            </a:pPr>
            <a:r>
              <a:rPr lang="en-US" sz="2500" dirty="0"/>
              <a:t>To build a simple system for uploading images and viewing results. </a:t>
            </a:r>
          </a:p>
          <a:p>
            <a:pPr fontAlgn="auto">
              <a:spcAft>
                <a:spcPts val="0"/>
              </a:spcAft>
              <a:defRPr/>
            </a:pPr>
            <a:endParaRPr lang="en-US" sz="2500" dirty="0"/>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7</a:t>
            </a:fld>
            <a:endParaRPr lang="en-US" altLang="en-US">
              <a:solidFill>
                <a:srgbClr val="898989"/>
              </a:solidFill>
            </a:endParaRPr>
          </a:p>
        </p:txBody>
      </p:sp>
      <p:pic>
        <p:nvPicPr>
          <p:cNvPr id="4" name="Picture 3">
            <a:extLst>
              <a:ext uri="{FF2B5EF4-FFF2-40B4-BE49-F238E27FC236}">
                <a16:creationId xmlns:a16="http://schemas.microsoft.com/office/drawing/2014/main" id="{24D567A5-0A6B-AFA0-3540-53A824978C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endParaRPr lang="en-US" sz="2500" dirty="0"/>
          </a:p>
          <a:p>
            <a:r>
              <a:rPr lang="en-US" sz="2500" dirty="0"/>
              <a:t>Accurate detection of damages in wind turbine blades using YOLOv8.</a:t>
            </a:r>
          </a:p>
          <a:p>
            <a:r>
              <a:rPr lang="en-US" sz="2500" dirty="0"/>
              <a:t>Faster and efficient identification of cracks and erosion.</a:t>
            </a:r>
          </a:p>
          <a:p>
            <a:r>
              <a:rPr lang="en-US" sz="2500" dirty="0"/>
              <a:t>Reduced need for manual inspection and human effort.</a:t>
            </a:r>
          </a:p>
          <a:p>
            <a:r>
              <a:rPr lang="en-US" sz="2500" dirty="0"/>
              <a:t>Improved maintenance and reliability of wind turbines.</a:t>
            </a:r>
          </a:p>
          <a:p>
            <a:r>
              <a:rPr lang="en-US" sz="2500" dirty="0"/>
              <a:t>User-friendly system to upload images and view results.</a:t>
            </a:r>
          </a:p>
        </p:txBody>
      </p:sp>
      <p:sp>
        <p:nvSpPr>
          <p:cNvPr id="5" name="Slide Number Placeholder 4"/>
          <p:cNvSpPr>
            <a:spLocks noGrp="1"/>
          </p:cNvSpPr>
          <p:nvPr>
            <p:ph type="sldNum" sz="quarter" idx="12"/>
          </p:nvPr>
        </p:nvSpPr>
        <p:spPr/>
        <p:txBody>
          <a:bodyPr/>
          <a:lstStyle/>
          <a:p>
            <a:fld id="{B6F15528-21DE-4FAA-801E-634DDDAF4B2B}" type="slidenum">
              <a:rPr lang="en-US"/>
              <a:pPr/>
              <a:t>8</a:t>
            </a:fld>
            <a:endParaRPr lang="en-US"/>
          </a:p>
        </p:txBody>
      </p:sp>
      <p:pic>
        <p:nvPicPr>
          <p:cNvPr id="6" name="Picture 5">
            <a:extLst>
              <a:ext uri="{FF2B5EF4-FFF2-40B4-BE49-F238E27FC236}">
                <a16:creationId xmlns:a16="http://schemas.microsoft.com/office/drawing/2014/main" id="{DCE2FDDD-2424-0E7F-DD96-199FAF1E2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3340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r>
              <a:rPr lang="en-IN" sz="2500" b="1" dirty="0"/>
              <a:t>Software Requirements</a:t>
            </a:r>
          </a:p>
          <a:p>
            <a:r>
              <a:rPr lang="en-IN" sz="2500" dirty="0"/>
              <a:t>Python</a:t>
            </a:r>
          </a:p>
          <a:p>
            <a:r>
              <a:rPr lang="en-IN" sz="2500" dirty="0"/>
              <a:t>Libraries: NumPy, Pandas, OpenCV</a:t>
            </a:r>
          </a:p>
          <a:p>
            <a:r>
              <a:rPr lang="en-IN" sz="2500" dirty="0"/>
              <a:t>Model: YOLOv8 (</a:t>
            </a:r>
            <a:r>
              <a:rPr lang="en-IN" sz="2500" dirty="0" err="1"/>
              <a:t>Ultralytics</a:t>
            </a:r>
            <a:r>
              <a:rPr lang="en-IN" sz="2500" dirty="0"/>
              <a:t>) </a:t>
            </a:r>
          </a:p>
          <a:p>
            <a:r>
              <a:rPr lang="en-IN" sz="2500" dirty="0"/>
              <a:t>Deep Learning Framework: </a:t>
            </a:r>
            <a:r>
              <a:rPr lang="en-IN" sz="2500" dirty="0" err="1"/>
              <a:t>PyTorch</a:t>
            </a:r>
            <a:r>
              <a:rPr lang="en-IN" sz="2500" dirty="0"/>
              <a:t>  </a:t>
            </a:r>
          </a:p>
          <a:p>
            <a:r>
              <a:rPr lang="en-IN" sz="2500" dirty="0"/>
              <a:t>VS Code</a:t>
            </a:r>
          </a:p>
          <a:p>
            <a:r>
              <a:rPr lang="en-IN" sz="2500" dirty="0" err="1"/>
              <a:t>Streamlit</a:t>
            </a:r>
            <a:r>
              <a:rPr lang="en-IN" sz="2500" dirty="0"/>
              <a:t> (for UI)</a:t>
            </a:r>
          </a:p>
          <a:p>
            <a:r>
              <a:rPr lang="en-IN" sz="2500" b="1" dirty="0"/>
              <a:t> Hardware Requirements</a:t>
            </a:r>
          </a:p>
          <a:p>
            <a:r>
              <a:rPr lang="en-IN" sz="2500" dirty="0"/>
              <a:t>Laptop</a:t>
            </a:r>
          </a:p>
          <a:p>
            <a:r>
              <a:rPr lang="en-IN" sz="2500" dirty="0"/>
              <a:t>8 GB RAM </a:t>
            </a:r>
          </a:p>
          <a:p>
            <a:r>
              <a:rPr lang="en-IN" sz="2500" dirty="0"/>
              <a:t>i5 Processor </a:t>
            </a:r>
          </a:p>
          <a:p>
            <a:endParaRPr lang="en-US" sz="2500" dirty="0"/>
          </a:p>
        </p:txBody>
      </p:sp>
      <p:sp>
        <p:nvSpPr>
          <p:cNvPr id="5" name="Slide Number Placeholder 4"/>
          <p:cNvSpPr>
            <a:spLocks noGrp="1"/>
          </p:cNvSpPr>
          <p:nvPr>
            <p:ph type="sldNum" sz="quarter" idx="12"/>
          </p:nvPr>
        </p:nvSpPr>
        <p:spPr/>
        <p:txBody>
          <a:bodyPr/>
          <a:lstStyle/>
          <a:p>
            <a:fld id="{B6F15528-21DE-4FAA-801E-634DDDAF4B2B}" type="slidenum">
              <a:rPr lang="en-US"/>
              <a:pPr/>
              <a:t>9</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824" y="27228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10</a:t>
            </a:fld>
            <a:endParaRPr lang="en-US"/>
          </a:p>
        </p:txBody>
      </p:sp>
      <p:sp>
        <p:nvSpPr>
          <p:cNvPr id="34" name="Content Placeholder 33"/>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10" name="Picture 9">
            <a:extLst>
              <a:ext uri="{FF2B5EF4-FFF2-40B4-BE49-F238E27FC236}">
                <a16:creationId xmlns:a16="http://schemas.microsoft.com/office/drawing/2014/main" id="{354FE102-752D-3644-AF24-C09F104F7FC6}"/>
              </a:ext>
            </a:extLst>
          </p:cNvPr>
          <p:cNvPicPr>
            <a:picLocks noChangeAspect="1"/>
          </p:cNvPicPr>
          <p:nvPr/>
        </p:nvPicPr>
        <p:blipFill>
          <a:blip r:embed="rId3"/>
          <a:stretch>
            <a:fillRect/>
          </a:stretch>
        </p:blipFill>
        <p:spPr>
          <a:xfrm>
            <a:off x="990600" y="1600200"/>
            <a:ext cx="7010399" cy="411480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fontScale="25000" lnSpcReduction="20000"/>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9200" b="1" dirty="0"/>
              <a:t>Proposed Method</a:t>
            </a:r>
          </a:p>
          <a:p>
            <a:r>
              <a:rPr lang="en-US" sz="9200" dirty="0"/>
              <a:t>Collect wind turbine blade images from dataset or captured sources. </a:t>
            </a:r>
          </a:p>
          <a:p>
            <a:r>
              <a:rPr lang="en-US" sz="9200" dirty="0"/>
              <a:t>Preprocess the images by cleaning, resizing, and organizing them. </a:t>
            </a:r>
          </a:p>
          <a:p>
            <a:r>
              <a:rPr lang="en-US" sz="9200" dirty="0"/>
              <a:t>Annotate damaged areas such as cracks and erosion. </a:t>
            </a:r>
          </a:p>
          <a:p>
            <a:r>
              <a:rPr lang="en-US" sz="9200" dirty="0"/>
              <a:t>Train the YOLOv8 segmentation model using the prepared dataset. </a:t>
            </a:r>
          </a:p>
          <a:p>
            <a:r>
              <a:rPr lang="en-US" sz="9200" dirty="0"/>
              <a:t>Test the model on new images to detect blade damage. </a:t>
            </a:r>
          </a:p>
          <a:p>
            <a:r>
              <a:rPr lang="en-US" sz="9200" dirty="0"/>
              <a:t>Display the output through </a:t>
            </a:r>
            <a:r>
              <a:rPr lang="en-US" sz="9200" dirty="0" err="1"/>
              <a:t>Streamlit</a:t>
            </a:r>
            <a:r>
              <a:rPr lang="en-US" sz="9200" dirty="0"/>
              <a:t> interface with detected regions.</a:t>
            </a:r>
          </a:p>
          <a:p>
            <a:r>
              <a:rPr lang="en-US" sz="9200" dirty="0"/>
              <a:t> </a:t>
            </a:r>
          </a:p>
          <a:p>
            <a:pPr marL="0" indent="0">
              <a:buNone/>
            </a:pPr>
            <a:r>
              <a:rPr lang="en-US" sz="9200" b="1" dirty="0"/>
              <a:t>Algorithms Used</a:t>
            </a:r>
          </a:p>
          <a:p>
            <a:r>
              <a:rPr lang="en-US" sz="9200" b="1" dirty="0"/>
              <a:t>YOLOv8 Segmentation</a:t>
            </a:r>
            <a:r>
              <a:rPr lang="en-US" sz="9200" dirty="0"/>
              <a:t> – for detecting and segmenting damaged regions in blade images. </a:t>
            </a:r>
          </a:p>
          <a:p>
            <a:r>
              <a:rPr lang="en-US" sz="9200" b="1" dirty="0"/>
              <a:t>Image Preprocessing</a:t>
            </a:r>
            <a:r>
              <a:rPr lang="en-US" sz="9200" dirty="0"/>
              <a:t> – for resizing and improving input images. </a:t>
            </a:r>
          </a:p>
          <a:p>
            <a:r>
              <a:rPr lang="en-US" sz="9200" b="1" dirty="0"/>
              <a:t>Data Annotation</a:t>
            </a:r>
            <a:r>
              <a:rPr lang="en-US" sz="9200" dirty="0"/>
              <a:t> – for marking damage areas in training images. </a:t>
            </a:r>
          </a:p>
          <a:p>
            <a:r>
              <a:rPr lang="en-US" sz="9200" b="1" dirty="0"/>
              <a:t>Deep Learning Training Algorithm</a:t>
            </a:r>
            <a:r>
              <a:rPr lang="en-US" sz="9200" dirty="0"/>
              <a:t> – for learning defect patterns from the dataset.</a:t>
            </a:r>
          </a:p>
          <a:p>
            <a:pPr fontAlgn="auto">
              <a:spcAft>
                <a:spcPts val="0"/>
              </a:spcAft>
              <a:defRPr/>
            </a:pPr>
            <a:endParaRPr lang="en-US" sz="2800" dirty="0"/>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75962246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6" name="Picture 5">
            <a:extLst>
              <a:ext uri="{FF2B5EF4-FFF2-40B4-BE49-F238E27FC236}">
                <a16:creationId xmlns:a16="http://schemas.microsoft.com/office/drawing/2014/main" id="{3B37D46F-471A-456E-5954-4C9F51FBDC04}"/>
              </a:ext>
            </a:extLst>
          </p:cNvPr>
          <p:cNvPicPr>
            <a:picLocks noChangeAspect="1"/>
          </p:cNvPicPr>
          <p:nvPr/>
        </p:nvPicPr>
        <p:blipFill>
          <a:blip r:embed="rId3"/>
          <a:stretch>
            <a:fillRect/>
          </a:stretch>
        </p:blipFill>
        <p:spPr>
          <a:xfrm>
            <a:off x="533400" y="1360025"/>
            <a:ext cx="8305800" cy="4507375"/>
          </a:xfrm>
          <a:prstGeom prst="rect">
            <a:avLst/>
          </a:prstGeom>
        </p:spPr>
      </p:pic>
    </p:spTree>
    <p:extLst>
      <p:ext uri="{BB962C8B-B14F-4D97-AF65-F5344CB8AC3E}">
        <p14:creationId xmlns:p14="http://schemas.microsoft.com/office/powerpoint/2010/main" val="17296609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Research Paper (Acceptance Proof)</a:t>
            </a:r>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6" name="Picture 5">
            <a:extLst>
              <a:ext uri="{FF2B5EF4-FFF2-40B4-BE49-F238E27FC236}">
                <a16:creationId xmlns:a16="http://schemas.microsoft.com/office/drawing/2014/main" id="{6FCA4259-635B-45CB-0542-9E8B1994E49D}"/>
              </a:ext>
            </a:extLst>
          </p:cNvPr>
          <p:cNvPicPr>
            <a:picLocks noChangeAspect="1"/>
          </p:cNvPicPr>
          <p:nvPr/>
        </p:nvPicPr>
        <p:blipFill>
          <a:blip r:embed="rId3"/>
          <a:stretch>
            <a:fillRect/>
          </a:stretch>
        </p:blipFill>
        <p:spPr>
          <a:xfrm>
            <a:off x="533400" y="1418598"/>
            <a:ext cx="8229600" cy="4372602"/>
          </a:xfrm>
          <a:prstGeom prst="rect">
            <a:avLst/>
          </a:prstGeom>
        </p:spPr>
      </p:pic>
    </p:spTree>
    <p:extLst>
      <p:ext uri="{BB962C8B-B14F-4D97-AF65-F5344CB8AC3E}">
        <p14:creationId xmlns:p14="http://schemas.microsoft.com/office/powerpoint/2010/main" val="23957614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14</a:t>
            </a:fld>
            <a:endParaRPr lang="en-US"/>
          </a:p>
        </p:txBody>
      </p:sp>
      <p:sp>
        <p:nvSpPr>
          <p:cNvPr id="8" name="Content Placeholder 7"/>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6" name="Content Placeholder 2">
            <a:extLst>
              <a:ext uri="{FF2B5EF4-FFF2-40B4-BE49-F238E27FC236}">
                <a16:creationId xmlns:a16="http://schemas.microsoft.com/office/drawing/2014/main" id="{AEBE3AB6-B8B8-6350-9359-A8FA91ABEDC3}"/>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algn="just" fontAlgn="auto">
              <a:lnSpc>
                <a:spcPct val="150000"/>
              </a:lnSpc>
              <a:spcAft>
                <a:spcPts val="0"/>
              </a:spcAft>
              <a:buNone/>
              <a:defRPr/>
            </a:pPr>
            <a:r>
              <a:rPr lang="en-US" sz="2500" dirty="0"/>
              <a:t>     This project presents a deep learning-based approach for detecting damage in wind turbine blades using YOLOv8. The system helps in identifying defects accurately and reduces manual effort. It improves maintenance efficiency and supports reliable renewable energy systems.</a:t>
            </a:r>
            <a:endParaRPr lang="en-US" sz="2500" dirty="0">
              <a:cs typeface="Calibri"/>
            </a:endParaRPr>
          </a:p>
        </p:txBody>
      </p:sp>
    </p:spTree>
    <p:extLst>
      <p:ext uri="{BB962C8B-B14F-4D97-AF65-F5344CB8AC3E}">
        <p14:creationId xmlns:p14="http://schemas.microsoft.com/office/powerpoint/2010/main" val="34456929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15</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2954</TotalTime>
  <Words>774</Words>
  <Application>Microsoft Office PowerPoint</Application>
  <PresentationFormat>On-screen Show (4:3)</PresentationFormat>
  <Paragraphs>148</Paragraphs>
  <Slides>15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Arial,Sans-Serif</vt:lpstr>
      <vt:lpstr>Calibri</vt:lpstr>
      <vt:lpstr>Office Theme</vt:lpstr>
      <vt:lpstr>    DEPARTMENT OF COMPUTER SCIENCE AND ENGINEERING  </vt:lpstr>
      <vt:lpstr>Mini Project Outlines</vt:lpstr>
      <vt:lpstr>Introduction</vt:lpstr>
      <vt:lpstr>Existing System Vs Proposed </vt:lpstr>
      <vt:lpstr>Research Gaps</vt:lpstr>
      <vt:lpstr>Problem Statement</vt:lpstr>
      <vt:lpstr>Proposed Project Objectives</vt:lpstr>
      <vt:lpstr>Proposed Project Outcomes</vt:lpstr>
      <vt:lpstr>Software and Hardware Requirements</vt:lpstr>
      <vt:lpstr>Architectural Diagram</vt:lpstr>
      <vt:lpstr>PROPOSED METHOD AND ALGORITHMS</vt:lpstr>
      <vt:lpstr>Results</vt:lpstr>
      <vt:lpstr>Research Paper (Acceptance Proof)</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Thanvi Reddy Mallu</cp:lastModifiedBy>
  <cp:revision>526</cp:revision>
  <dcterms:created xsi:type="dcterms:W3CDTF">2006-08-16T00:00:00Z</dcterms:created>
  <dcterms:modified xsi:type="dcterms:W3CDTF">2026-04-01T11:22:30Z</dcterms:modified>
</cp:coreProperties>
</file>